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086CA-F9FF-4995-8B69-9CEA526C3887}" v="1" dt="2025-12-24T15:20:51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i Rani" userId="f62671477612f70d" providerId="LiveId" clId="{A95641E6-E5A4-4075-A458-930EC2B1842A}"/>
    <pc:docChg chg="custSel modSld">
      <pc:chgData name="Santhoshi Rani" userId="f62671477612f70d" providerId="LiveId" clId="{A95641E6-E5A4-4075-A458-930EC2B1842A}" dt="2025-12-24T15:21:24.068" v="8" actId="14100"/>
      <pc:docMkLst>
        <pc:docMk/>
      </pc:docMkLst>
      <pc:sldChg chg="modSp mod">
        <pc:chgData name="Santhoshi Rani" userId="f62671477612f70d" providerId="LiveId" clId="{A95641E6-E5A4-4075-A458-930EC2B1842A}" dt="2025-12-24T15:21:24.068" v="8" actId="14100"/>
        <pc:sldMkLst>
          <pc:docMk/>
          <pc:sldMk cId="3837804747" sldId="257"/>
        </pc:sldMkLst>
        <pc:spChg chg="mod">
          <ac:chgData name="Santhoshi Rani" userId="f62671477612f70d" providerId="LiveId" clId="{A95641E6-E5A4-4075-A458-930EC2B1842A}" dt="2025-12-24T15:21:17.628" v="7" actId="27636"/>
          <ac:spMkLst>
            <pc:docMk/>
            <pc:sldMk cId="3837804747" sldId="257"/>
            <ac:spMk id="2" creationId="{4215CD75-F9CA-6EA4-DAAD-286B26370866}"/>
          </ac:spMkLst>
        </pc:spChg>
        <pc:spChg chg="mod">
          <ac:chgData name="Santhoshi Rani" userId="f62671477612f70d" providerId="LiveId" clId="{A95641E6-E5A4-4075-A458-930EC2B1842A}" dt="2025-12-24T15:21:24.068" v="8" actId="14100"/>
          <ac:spMkLst>
            <pc:docMk/>
            <pc:sldMk cId="3837804747" sldId="257"/>
            <ac:spMk id="3" creationId="{62AFAA8E-9A8B-230B-027B-508F4392DA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899C-1972-F133-337E-DAD25E56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2CD4F-A35C-5D54-37DE-C4A1DB900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500D3-A6F0-C56A-994D-1446B3D8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753D7-4C46-F5E8-C0BD-AFEC7AD2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08B70-C61A-57BA-3F34-F47C92B2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5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3C50-0241-53B6-7485-69DA9DE3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2DE5-E6E1-8352-42A0-25516238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7E9B-2135-DC1A-1B81-552494F2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17FAC-D4D4-232D-0013-1955654F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10643-BFD2-67CD-F49A-08CDB33D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0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860A-B5D3-2468-22CE-1D3B6EA9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7D0D9-5EE1-AC94-5A4C-2221FBBD9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44C60-8DC7-35A1-399B-FD0D0B13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97920-47B2-0F03-98D1-C8F61761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B8F74-682D-49F7-98FB-A33E1CDE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5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E12F-66C7-0AFF-1152-F3914FF3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8038-ECFD-4809-D163-63A009661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777A8-25A3-D30A-4E6F-B53C06470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F3900-0D7A-8DC2-803D-71F0B238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C0E24-FB9A-1714-9789-D1D44661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8D60D-A892-E309-BA3C-6F62BB72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56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6A4D-A060-6EAD-5808-5C8CF0C9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5117-88C2-83BA-519B-FBD9ED722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FF88E-0BE4-25A9-BEDE-A75CE664D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AD5EE-FCA3-3149-6AC7-4BEF58E18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20FA0-5E82-02E4-B0E1-D2382302A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08F17-9CCA-448D-D4B3-CC46FFE6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CA391-B74F-C728-9CC4-4C3037A6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D025C-31FF-8781-D065-6DF55959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07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F074-7110-CF6C-A255-4B0A9619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74157-D0CA-1B7C-EBCD-CFDDB68B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6938E-8D62-2DC6-BE8F-1E902888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F25B1-64CB-21A0-6154-06A38D48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67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0CA2F-51CB-12A3-7C20-FB676443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A77B4-5BD2-7EF0-0D20-B6978E37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727A8-96BE-500F-77B7-3E2C93E7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87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4259-FADE-4FAE-46D1-7D0DEC66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7206-2170-7BE2-5CCB-09C30357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BE720-FCC1-7808-B42F-8D467A155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0380C-E75B-2B5F-A57C-383F90F4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D7D1D-CACE-061E-64FC-BC8B7329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D047E-E1C6-F9C0-B95E-AD24B4F9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8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5F46-AABB-BB92-7F24-3CF596D0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78C1F-3A1D-7574-0602-85495F0C6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E5B64-1B4C-83B3-ADC6-5DFDE618F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57063-7B39-734D-9355-5FCDAF87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1B5D7-960D-FE1E-A85E-73B342D4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82D56-DF32-E5CD-1DA7-AD678FAE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DC1E-C43D-D5F1-93F8-6722F2C1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04C81-BDC9-11F5-7794-20FD40D29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65B41-5262-9F3D-3CD8-AB6BD71E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3B871-1A57-BF04-A5D5-7C303682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BF87-8D2D-9B4C-03AD-D2F2980B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9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BA9FF-CCC8-0110-C44D-E8AEDB665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2F995-301F-9057-8C76-61B3E077D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AB06-9AA8-C31D-9242-54ADFC53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0AE8B-4E27-7F80-7F61-C245BF42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6E05-4B8B-316C-69A1-703F5259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2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25AEB-CE37-B0FA-713B-F8AF9E80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E963-87F1-06E9-69D7-20F123B73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5ABDA-F002-109E-C0E9-E4A0D7AD3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65DA8-91A2-4411-805F-4D2045AE537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3588F-9D0F-9F06-A617-0ACBE914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7890-68FE-02DF-ACF7-86348E432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17AE3-3AD5-4CB2-AC42-FE32E6AF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69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CD75-F9CA-6EA4-DAAD-286B2637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4" y="157316"/>
            <a:ext cx="10419735" cy="4129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u="sng" dirty="0"/>
              <a:t>Challenges Faced During Model Building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FAA8E-9A8B-230B-027B-508F4392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8" y="737419"/>
            <a:ext cx="11783961" cy="5963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u="sng" dirty="0"/>
              <a:t>Problems Identified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1. Severe Class Imbalance : </a:t>
            </a:r>
          </a:p>
          <a:p>
            <a:r>
              <a:rPr lang="en-IN" sz="1600" dirty="0"/>
              <a:t>Claim cases (class 1) were only 6% of the dataset</a:t>
            </a:r>
          </a:p>
          <a:p>
            <a:r>
              <a:rPr lang="en-IN" sz="1600" dirty="0"/>
              <a:t>Accuracy was misleading, model biased towards non claims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2. High – Cardinality Categorical Features:</a:t>
            </a:r>
          </a:p>
          <a:p>
            <a:pPr marL="0" indent="0">
              <a:buNone/>
            </a:pPr>
            <a:r>
              <a:rPr lang="en-IN" sz="1600" dirty="0" err="1"/>
              <a:t>area_cluster</a:t>
            </a:r>
            <a:r>
              <a:rPr lang="en-IN" sz="1600" dirty="0"/>
              <a:t> column had many unique categories, encoding using One Hot Encoding causes high dimensionality and Overfitting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3. Overfitting:</a:t>
            </a:r>
          </a:p>
          <a:p>
            <a:r>
              <a:rPr lang="en-IN" sz="1600" dirty="0"/>
              <a:t>Models achieved very high training accuracy</a:t>
            </a:r>
          </a:p>
          <a:p>
            <a:r>
              <a:rPr lang="en-IN" sz="1600" dirty="0"/>
              <a:t>Poor performance on test data (low F1-Score)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4. Weak Predictive Signals:</a:t>
            </a:r>
          </a:p>
          <a:p>
            <a:pPr marL="0" indent="0">
              <a:buNone/>
            </a:pPr>
            <a:r>
              <a:rPr lang="en-IN" sz="1600" dirty="0"/>
              <a:t>With available features like vehicle type, policy age, safety flags) had limited ability to strongly separate claim vs non-claim cases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US" sz="1600" dirty="0"/>
              <a:t>Incorrect claim prediction can lead to wrong premium pricing and financial risk for insurers.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3780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065F-8932-317F-0B8C-0324532C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137652"/>
            <a:ext cx="10960510" cy="639096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/>
              <a:t>Solutions Applied &amp; Techniques Used</a:t>
            </a:r>
            <a:endParaRPr lang="en-IN" sz="2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0A813-F524-EC6F-7A76-7CE64F749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822299"/>
            <a:ext cx="11157155" cy="5213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1.Target Encoding for High Cardinality:</a:t>
            </a:r>
          </a:p>
          <a:p>
            <a:r>
              <a:rPr lang="en-US" sz="1600" dirty="0"/>
              <a:t>Applied Target encoding to </a:t>
            </a:r>
            <a:r>
              <a:rPr lang="en-US" sz="1600" dirty="0" err="1"/>
              <a:t>area_cluster</a:t>
            </a:r>
            <a:r>
              <a:rPr lang="en-US" sz="1600" dirty="0"/>
              <a:t>, by replacing each category with Mean claim rate for that area</a:t>
            </a:r>
          </a:p>
          <a:p>
            <a:r>
              <a:rPr lang="en-US" sz="1600" dirty="0"/>
              <a:t>Reduced dimensionality and captured useful signal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2. Handling Class Imbalance:</a:t>
            </a:r>
          </a:p>
          <a:p>
            <a:r>
              <a:rPr lang="en-US" sz="1600" dirty="0"/>
              <a:t>Applied SMOTE-Tomek resampling Technique which Oversampled minority class</a:t>
            </a:r>
          </a:p>
          <a:p>
            <a:r>
              <a:rPr lang="en-US" sz="1600" dirty="0"/>
              <a:t>Cleaned noisy majority samples also tested class weighting (</a:t>
            </a:r>
            <a:r>
              <a:rPr lang="en-US" sz="1600" dirty="0" err="1"/>
              <a:t>scale_pos_weight</a:t>
            </a:r>
            <a:r>
              <a:rPr lang="en-US" sz="1600" dirty="0"/>
              <a:t>) in </a:t>
            </a:r>
            <a:r>
              <a:rPr lang="en-US" sz="1600" dirty="0" err="1"/>
              <a:t>XGBoost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3. Model Optimization:</a:t>
            </a:r>
          </a:p>
          <a:p>
            <a:r>
              <a:rPr lang="en-US" sz="1600" dirty="0"/>
              <a:t>Used </a:t>
            </a:r>
            <a:r>
              <a:rPr lang="en-US" sz="1600" dirty="0" err="1"/>
              <a:t>RandomizedSearchCV</a:t>
            </a:r>
            <a:r>
              <a:rPr lang="en-US" sz="1600" dirty="0"/>
              <a:t> for hyperparameter tuning</a:t>
            </a:r>
          </a:p>
          <a:p>
            <a:r>
              <a:rPr lang="en-US" sz="1600" dirty="0"/>
              <a:t>Optimized models using F1-score instead of accuracy</a:t>
            </a:r>
          </a:p>
          <a:p>
            <a:r>
              <a:rPr lang="en-US" sz="1600" dirty="0"/>
              <a:t>Tuned parameters like Tree depth, Number of estimators, Minimum samples per split/leaf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4. Model Comparison</a:t>
            </a:r>
          </a:p>
          <a:p>
            <a:r>
              <a:rPr lang="en-US" sz="1600" dirty="0"/>
              <a:t>Compared Random Forest, </a:t>
            </a:r>
            <a:r>
              <a:rPr lang="en-US" sz="1600" dirty="0" err="1"/>
              <a:t>XGBoost</a:t>
            </a:r>
            <a:r>
              <a:rPr lang="en-US" sz="1600" dirty="0"/>
              <a:t> with and without SMOTE</a:t>
            </a:r>
          </a:p>
          <a:p>
            <a:r>
              <a:rPr lang="en-US" sz="1600" dirty="0"/>
              <a:t>Selected model based on test performance, not training accuracy</a:t>
            </a:r>
          </a:p>
        </p:txBody>
      </p:sp>
    </p:spTree>
    <p:extLst>
      <p:ext uri="{BB962C8B-B14F-4D97-AF65-F5344CB8AC3E}">
        <p14:creationId xmlns:p14="http://schemas.microsoft.com/office/powerpoint/2010/main" val="225478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1E95-939D-CE06-63A2-0A9F0B14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568"/>
            <a:ext cx="10515600" cy="388374"/>
          </a:xfrm>
        </p:spPr>
        <p:txBody>
          <a:bodyPr>
            <a:noAutofit/>
          </a:bodyPr>
          <a:lstStyle/>
          <a:p>
            <a:pPr algn="ctr"/>
            <a:r>
              <a:rPr lang="en-US" sz="2800" b="1" u="sng" dirty="0"/>
              <a:t>Results, Learnings &amp; Future Improvements</a:t>
            </a:r>
            <a:endParaRPr lang="en-IN" sz="2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9AFAE-B8CA-701A-8DC7-83458F1E5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639097"/>
            <a:ext cx="11818374" cy="607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Key Learnings:</a:t>
            </a:r>
          </a:p>
          <a:p>
            <a:r>
              <a:rPr lang="en-US" sz="1600" dirty="0"/>
              <a:t>Best test F1-Score achieved: 0.15</a:t>
            </a:r>
          </a:p>
          <a:p>
            <a:r>
              <a:rPr lang="en-US" sz="1600" dirty="0"/>
              <a:t>All models showed low precision(10%), High False positives</a:t>
            </a:r>
          </a:p>
          <a:p>
            <a:r>
              <a:rPr lang="en-US" sz="1600" dirty="0"/>
              <a:t>Performance stagnated despite tuning and feature engineering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Root cause for Limited Performance:</a:t>
            </a:r>
          </a:p>
          <a:p>
            <a:r>
              <a:rPr lang="en-US" sz="1600" dirty="0"/>
              <a:t>The issue is data quality, not modeling</a:t>
            </a:r>
          </a:p>
          <a:p>
            <a:r>
              <a:rPr lang="en-US" sz="1600" dirty="0"/>
              <a:t>Existing features do not strongly explain claim behavior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IN" sz="1800" b="1" dirty="0"/>
              <a:t>Need for Better Efficiency:</a:t>
            </a:r>
          </a:p>
          <a:p>
            <a:r>
              <a:rPr lang="en-IN" sz="1600" dirty="0"/>
              <a:t>Need better Features like Driving history, Previous claims, Credit score, Geographic risk data</a:t>
            </a:r>
          </a:p>
          <a:p>
            <a:r>
              <a:rPr lang="en-IN" sz="1600" dirty="0"/>
              <a:t>Advanced Techniques like</a:t>
            </a:r>
          </a:p>
          <a:p>
            <a:pPr marL="0" indent="0">
              <a:buNone/>
            </a:pPr>
            <a:r>
              <a:rPr lang="en-IN" sz="1600" dirty="0"/>
              <a:t>        1. Imbalance-specific ensembles(Easy Ensemble, Balanced RF)</a:t>
            </a:r>
          </a:p>
          <a:p>
            <a:pPr marL="0" indent="0">
              <a:buNone/>
            </a:pPr>
            <a:r>
              <a:rPr lang="en-IN" sz="1600" dirty="0"/>
              <a:t>        2. Cost-sensitive learning</a:t>
            </a:r>
          </a:p>
          <a:p>
            <a:pPr marL="0" indent="0">
              <a:buNone/>
            </a:pPr>
            <a:r>
              <a:rPr lang="en-IN" sz="1600" dirty="0"/>
              <a:t>        3. Threshold optimization using Precision-Recall curve</a:t>
            </a:r>
          </a:p>
          <a:p>
            <a:pPr marL="0" indent="0">
              <a:buNone/>
            </a:pPr>
            <a:r>
              <a:rPr lang="en-IN" sz="1600" dirty="0"/>
              <a:t>Decide acceptable false positives vs false negatives to optimize model threshold accordingly</a:t>
            </a:r>
          </a:p>
        </p:txBody>
      </p:sp>
    </p:spTree>
    <p:extLst>
      <p:ext uri="{BB962C8B-B14F-4D97-AF65-F5344CB8AC3E}">
        <p14:creationId xmlns:p14="http://schemas.microsoft.com/office/powerpoint/2010/main" val="22458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Challenges Faced During Model Building</vt:lpstr>
      <vt:lpstr>Solutions Applied &amp; Techniques Used</vt:lpstr>
      <vt:lpstr>Results, Learnings &amp;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Santhoshi Rani</dc:creator>
  <cp:lastModifiedBy>Santhoshi Rani</cp:lastModifiedBy>
  <cp:revision>1</cp:revision>
  <dcterms:created xsi:type="dcterms:W3CDTF">2025-12-13T08:42:00Z</dcterms:created>
  <dcterms:modified xsi:type="dcterms:W3CDTF">2025-12-24T15:21:29Z</dcterms:modified>
</cp:coreProperties>
</file>